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656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57174-DB6E-44DA-D2C7-482DDA52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EBF93-F1E3-5FDC-FCE6-9CA5A2916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7CEE67-0C7E-413F-DCCD-288F67263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06B2F-0298-0396-E069-7727679D07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84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E6BE6">
              <a:alpha val="25000"/>
            </a:srgbClr>
          </a:solidFill>
          <a:ln w="12700">
            <a:solidFill>
              <a:srgbClr val="2E6BE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126480" y="365760"/>
            <a:ext cx="1371600" cy="301752"/>
          </a:xfrm>
          <a:prstGeom prst="roundRect">
            <a:avLst>
              <a:gd name="adj" fmla="val 15152"/>
            </a:avLst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126480" y="36576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371600" cy="301752"/>
          </a:xfrm>
          <a:prstGeom prst="roundRect">
            <a:avLst>
              <a:gd name="adj" fmla="val 15152"/>
            </a:avLst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589520" y="36576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26480" y="777240"/>
            <a:ext cx="1371600" cy="301752"/>
          </a:xfrm>
          <a:prstGeom prst="roundRect">
            <a:avLst>
              <a:gd name="adj" fmla="val 15152"/>
            </a:avLst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126480" y="77724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0" y="777240"/>
            <a:ext cx="1371600" cy="301752"/>
          </a:xfrm>
          <a:prstGeom prst="roundRect">
            <a:avLst>
              <a:gd name="adj" fmla="val 15152"/>
            </a:avLst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589520" y="77724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00584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Emotion-IA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AA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Faciale d'Émotions en Temps Réel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AA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Optimisation Adaptative via Reinforcement Learning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4572000" cy="36576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Mouhamed DIOP  |  Abibatou WANDAOGO  |  Samba DIALLO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Juin 2026  —  Projet Deep Learning &amp; APR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Présentation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206240" cy="1005840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029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5819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détecter les émotions 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92040" y="1051560"/>
            <a:ext cx="4206240" cy="1005840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892040" y="1051560"/>
            <a:ext cx="5029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92040" y="10515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1143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Système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5819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CNN + DQN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4206240" cy="1005840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5029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2377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FER-2013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8163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35 887 images, 7 émotions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2286000"/>
            <a:ext cx="4206240" cy="1005840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892040" y="2286000"/>
            <a:ext cx="5029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92040" y="22860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2377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Performances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28163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et comparaisons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4206240" cy="1005840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5029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35204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36118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Applications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40507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forts, limites, usages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3520440"/>
            <a:ext cx="4206240" cy="1005840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892040" y="3520440"/>
            <a:ext cx="5029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892040" y="35204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0" y="36118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&amp; Conclusion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40507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futures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438912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411480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237744" cy="237744"/>
          </a:xfrm>
          <a:prstGeom prst="ellipse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32688" y="153619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L'état émotionnel : enjeu clé des interfaces numériques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94360" y="2487168"/>
            <a:ext cx="237744" cy="237744"/>
          </a:xfrm>
          <a:prstGeom prst="ellipse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32688" y="228600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: sécurité, santé, marketing, éducation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35808"/>
            <a:ext cx="411480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94360" y="3236976"/>
            <a:ext cx="237744" cy="237744"/>
          </a:xfrm>
          <a:prstGeom prst="ellipse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932688" y="303580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homme-machine de plus en plus sophistiquée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785616"/>
            <a:ext cx="411480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94360" y="3986784"/>
            <a:ext cx="237744" cy="237744"/>
          </a:xfrm>
          <a:prstGeom prst="ellipse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932688" y="378561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systèmes robustes et adaptatifs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0" y="1005840"/>
            <a:ext cx="411480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Défis Techniques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1536192"/>
            <a:ext cx="411480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983480" y="1737360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321808" y="153619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Variations d'éclairage (faible luminosité, contre-jour)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46320" y="2286000"/>
            <a:ext cx="411480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983480" y="2487168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321808" y="228600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d'image variable (résolution, bruit)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46320" y="3035808"/>
            <a:ext cx="411480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983480" y="3236976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321808" y="303580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de capture non contrôlées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46320" y="3785616"/>
            <a:ext cx="411480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983480" y="3986784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321808" y="378561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Diversité des caractéristiques faciales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Proposée : Architecture Hybride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7660" y="1939671"/>
            <a:ext cx="2743200" cy="2206561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7660" y="1391031"/>
            <a:ext cx="2743200" cy="54121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414463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3400" y="2454592"/>
            <a:ext cx="233172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84632" y="246202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7220" y="3104389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des visages dans le flux vidéo en temps réel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2487168"/>
            <a:ext cx="73152" cy="18288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46120" y="1391030"/>
            <a:ext cx="2697480" cy="2755201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53740" y="1402842"/>
            <a:ext cx="2697480" cy="548640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24612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030980" y="140703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36620" y="2466594"/>
            <a:ext cx="2331720" cy="347472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311652" y="244754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— 7 émotions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29000" y="30403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convolutif entraîné sur FER-2013 (65.8% accuracy)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9320" y="2487168"/>
            <a:ext cx="73152" cy="18288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062472" y="1571339"/>
            <a:ext cx="2711196" cy="2566321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062472" y="1391221"/>
            <a:ext cx="2697480" cy="54864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08076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04660" y="13873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78880" y="2462022"/>
            <a:ext cx="2331720" cy="34747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5" name="Text 23"/>
          <p:cNvSpPr/>
          <p:nvPr/>
        </p:nvSpPr>
        <p:spPr>
          <a:xfrm>
            <a:off x="6181344" y="24545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DQN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01740" y="30403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 adaptatif du contraste et de l'exposition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" y="4434840"/>
            <a:ext cx="832104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11480" y="44348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Amélioration de +19.8% de confiance grâce à l'optimisation DQN  ✦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FER-2013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196596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19659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35 887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801368"/>
            <a:ext cx="1965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totales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32888" y="1005840"/>
            <a:ext cx="1965960" cy="1371600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532888" y="1115568"/>
            <a:ext cx="19659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48×48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32888" y="1801368"/>
            <a:ext cx="1965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(niveaux de gris)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54296" y="1005840"/>
            <a:ext cx="1965960" cy="13716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654296" y="1115568"/>
            <a:ext cx="19659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54296" y="1801368"/>
            <a:ext cx="1965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d'émotions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75704" y="1005840"/>
            <a:ext cx="1965960" cy="137160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775704" y="1115568"/>
            <a:ext cx="19659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75704" y="1801368"/>
            <a:ext cx="1965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560320"/>
            <a:ext cx="8321040" cy="2286000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94360" y="2651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clés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3154680"/>
            <a:ext cx="256032" cy="256032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960120" y="3108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sur-représentée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31089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des images — risque de biais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3666744"/>
            <a:ext cx="256032" cy="256032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960120" y="36210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 très rare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62102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~2% — retirée de la classification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4178808"/>
            <a:ext cx="256032" cy="256032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960120" y="41330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déséquilibré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37560" y="413308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Nécessite une augmentation de données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Classifieur CNN —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188720" cy="12801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48×48×1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463040" y="1700784"/>
            <a:ext cx="246888" cy="7315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709928" y="1097280"/>
            <a:ext cx="1188720" cy="1280160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709928" y="109728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Conv(32)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BN+ReLU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98648" y="1700784"/>
            <a:ext cx="246888" cy="7315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145536" y="1097280"/>
            <a:ext cx="1188720" cy="1280160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145536" y="109728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Conv(64)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BN+ReLU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34256" y="1700784"/>
            <a:ext cx="246888" cy="7315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581144" y="1097280"/>
            <a:ext cx="1188720" cy="1280160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81144" y="109728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3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Conv(128)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BN+ReLU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69864" y="1700784"/>
            <a:ext cx="246888" cy="7315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016752" y="1097280"/>
            <a:ext cx="1188720" cy="128016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016752" y="109728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+Dense(256)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05472" y="1700784"/>
            <a:ext cx="246888" cy="7315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7452360" y="1097280"/>
            <a:ext cx="1188720" cy="1280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452360" y="109728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classes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606040"/>
            <a:ext cx="8595360" cy="2194560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57200" y="26974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d'Optimisation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Augmentation: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24028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±15°, translation ±10%, zoom ±10%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0916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Normalization: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9224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des activations à chaque bloc convolutif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240280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après conv, 0.5 après dense — prévient l'overfitting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09160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Stopping: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92240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10 époques + LR Reduction ×0.5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DQN — Optimisation Adaptative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13460"/>
            <a:ext cx="4114800" cy="3794760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11480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RL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8700" y="15681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(3D):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011680" y="1600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Contraste, exposition, confiance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207111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(9):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011680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3×3 : ajuster contraste/exposition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2621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Récompense: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01168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Δconfiance × 10 − pénalité hors bornes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306171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(discount):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011680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97280" y="3611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Epsilon: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01168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→ 0.01 (decay: 0.995)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23900" y="41071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Buffer: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01168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expériences — Batch: 32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206240" cy="3794760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4206240" cy="475488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663440" y="10058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DQN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1600200"/>
            <a:ext cx="9144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846320" y="16002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97880" y="16002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neurones (état)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2103120"/>
            <a:ext cx="9144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46320" y="21031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97880" y="21031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+ Dropout(0.2) + ReLU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46320" y="2606040"/>
            <a:ext cx="9144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46320" y="26060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97880" y="2606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+ Dropout(0.2) + ReLU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46320" y="3108960"/>
            <a:ext cx="9144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846320" y="3108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3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897880" y="31089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+ ReLU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846320" y="3611880"/>
            <a:ext cx="9144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846320" y="3611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897880" y="36118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Q-values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846320" y="4114800"/>
            <a:ext cx="9144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846320" y="4114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897880" y="41148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6 793 paramètres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— Classifieur CNN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651760" cy="1554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26517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65.8%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907438"/>
            <a:ext cx="265176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Test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651760" cy="1554480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46120" y="1115568"/>
            <a:ext cx="26517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72.3%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46120" y="1907438"/>
            <a:ext cx="265176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Train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005840"/>
            <a:ext cx="2651760" cy="155448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080760" y="1115568"/>
            <a:ext cx="26517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80760" y="1907438"/>
            <a:ext cx="265176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(macro)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743200"/>
            <a:ext cx="8321040" cy="2103120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9436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par émotion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291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965960" y="3346704"/>
            <a:ext cx="4754880" cy="210312"/>
          </a:xfrm>
          <a:prstGeom prst="rect">
            <a:avLst/>
          </a:prstGeom>
          <a:solidFill>
            <a:srgbClr val="D6DFF0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965960" y="3346704"/>
            <a:ext cx="4336451" cy="21031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858000" y="3291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91.2%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36758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965960" y="3730752"/>
            <a:ext cx="4754880" cy="210312"/>
          </a:xfrm>
          <a:prstGeom prst="rect">
            <a:avLst/>
          </a:prstGeom>
          <a:solidFill>
            <a:srgbClr val="D6DFF0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1965960" y="3730752"/>
            <a:ext cx="4079687" cy="21031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858000" y="36758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4360" y="405993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965960" y="4114800"/>
            <a:ext cx="4754880" cy="210312"/>
          </a:xfrm>
          <a:prstGeom prst="rect">
            <a:avLst/>
          </a:prstGeom>
          <a:solidFill>
            <a:srgbClr val="D6DFF0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1965960" y="4114800"/>
            <a:ext cx="3780130" cy="210312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858000" y="40599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79.5%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4360" y="444398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965960" y="4498848"/>
            <a:ext cx="4754880" cy="210312"/>
          </a:xfrm>
          <a:prstGeom prst="rect">
            <a:avLst/>
          </a:prstGeom>
          <a:solidFill>
            <a:srgbClr val="D6DFF0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1965960" y="4498848"/>
            <a:ext cx="2410724" cy="2103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858000" y="444398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50.7%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9436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620 935 paramètres entraînables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— Agent DQN &amp; Temps Réel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3108960" cy="4389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20440" y="1051560"/>
            <a:ext cx="1737360" cy="4389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520440" y="10515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DQN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57800" y="1051560"/>
            <a:ext cx="1737360" cy="4389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257800" y="10515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DQN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95160" y="1051560"/>
            <a:ext cx="1737360" cy="4389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995160" y="10515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1490472"/>
            <a:ext cx="3108960" cy="420624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11480" y="149047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moyenne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20440" y="1490472"/>
            <a:ext cx="1737360" cy="420624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520440" y="14904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57800" y="1490472"/>
            <a:ext cx="1737360" cy="420624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257800" y="14904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95160" y="1490472"/>
            <a:ext cx="1737360" cy="420624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995160" y="14904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+19.8%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1929384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11480" y="192938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succès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20440" y="1929384"/>
            <a:ext cx="1737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520440" y="192938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57800" y="1929384"/>
            <a:ext cx="1737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257800" y="192938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95160" y="1929384"/>
            <a:ext cx="1737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995160" y="192938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2368296"/>
            <a:ext cx="3108960" cy="420624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11480" y="23682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/ image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520440" y="2368296"/>
            <a:ext cx="1737360" cy="420624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520440" y="236829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257800" y="2368296"/>
            <a:ext cx="1737360" cy="420624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257800" y="236829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95160" y="2368296"/>
            <a:ext cx="1737360" cy="420624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995160" y="236829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+50ms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11480" y="2807208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11480" y="280720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(webcam)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520440" y="2807208"/>
            <a:ext cx="1737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520440" y="280720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257800" y="2807208"/>
            <a:ext cx="1737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5257800" y="280720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 FPS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995160" y="2807208"/>
            <a:ext cx="1737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6995160" y="280720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11480" y="3383280"/>
            <a:ext cx="1965960" cy="150876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11480" y="3493008"/>
            <a:ext cx="196596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+19.8%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411480" y="4258361"/>
            <a:ext cx="196596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confiance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532888" y="3383280"/>
            <a:ext cx="1965960" cy="1508760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2532888" y="3493008"/>
            <a:ext cx="196596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87.3%</a:t>
            </a:r>
            <a:endParaRPr lang="en-US" sz="3000" dirty="0"/>
          </a:p>
        </p:txBody>
      </p:sp>
      <p:sp>
        <p:nvSpPr>
          <p:cNvPr id="49" name="Text 47"/>
          <p:cNvSpPr/>
          <p:nvPr/>
        </p:nvSpPr>
        <p:spPr>
          <a:xfrm>
            <a:off x="2532888" y="4258361"/>
            <a:ext cx="196596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succès DQN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54296" y="3383280"/>
            <a:ext cx="1965960" cy="1508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4654296" y="3493008"/>
            <a:ext cx="196596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000" dirty="0"/>
          </a:p>
        </p:txBody>
      </p:sp>
      <p:sp>
        <p:nvSpPr>
          <p:cNvPr id="52" name="Text 50"/>
          <p:cNvSpPr/>
          <p:nvPr/>
        </p:nvSpPr>
        <p:spPr>
          <a:xfrm>
            <a:off x="4654296" y="4258361"/>
            <a:ext cx="196596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Épisodes convergence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775704" y="3383280"/>
            <a:ext cx="1965960" cy="150876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6775704" y="3493008"/>
            <a:ext cx="196596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18-22</a:t>
            </a:r>
            <a:endParaRPr lang="en-US" sz="3000" dirty="0"/>
          </a:p>
        </p:txBody>
      </p:sp>
      <p:sp>
        <p:nvSpPr>
          <p:cNvPr id="55" name="Text 53"/>
          <p:cNvSpPr/>
          <p:nvPr/>
        </p:nvSpPr>
        <p:spPr>
          <a:xfrm>
            <a:off x="6775704" y="4258361"/>
            <a:ext cx="196596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temps réel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88920" cy="4572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788920" cy="3383280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30352" y="1627632"/>
            <a:ext cx="201168" cy="20116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22960" y="158191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+19.8% de confiance via DQN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30352" y="2221992"/>
            <a:ext cx="201168" cy="20116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22960" y="217627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aux conditions variables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0352" y="2816352"/>
            <a:ext cx="201168" cy="20116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22960" y="277063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18-22 FPS maintenus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0352" y="3410712"/>
            <a:ext cx="201168" cy="20116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22960" y="336499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Streamlit temps réel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0352" y="4005072"/>
            <a:ext cx="201168" cy="20116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22960" y="395935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open-source documenté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91840" y="1005840"/>
            <a:ext cx="278892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291840" y="1005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463040"/>
            <a:ext cx="2788920" cy="3383280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456432" y="1627632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749040" y="158191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+50% temps de traitement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56432" y="2221992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749040" y="217627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'Disgust' sous-représentée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56432" y="2816352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749040" y="277063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mono-visage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456432" y="3410712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749040" y="336499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limités (contraste, expo)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1005840"/>
            <a:ext cx="2788920" cy="457200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217920" y="1005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0" y="1463040"/>
            <a:ext cx="2788920" cy="3383280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6382512" y="1627632"/>
            <a:ext cx="201168" cy="201168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6675120" y="158191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surveillance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82512" y="2221992"/>
            <a:ext cx="201168" cy="201168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675120" y="217627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mentale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382512" y="2816352"/>
            <a:ext cx="201168" cy="201168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675120" y="277063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Éducation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382512" y="3410712"/>
            <a:ext cx="201168" cy="201168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675120" y="336499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382512" y="4005072"/>
            <a:ext cx="201168" cy="201168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675120" y="395935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&amp; Améliorations Futures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88920" cy="502920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278892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347472" cy="658368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1645920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DQN (réduction biais)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432304"/>
            <a:ext cx="278892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65760" y="2432304"/>
            <a:ext cx="347472" cy="658368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2432304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" y="2432304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 (valeur/avantage)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218688"/>
            <a:ext cx="278892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3218688"/>
            <a:ext cx="347472" cy="658368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5760" y="3218688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" y="3218688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Experience Replay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4005072"/>
            <a:ext cx="278892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65760" y="4005072"/>
            <a:ext cx="347472" cy="658368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65760" y="4005072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" y="400507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&amp; Pruning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91840" y="1005840"/>
            <a:ext cx="2788920" cy="50292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291840" y="10058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91840" y="1645920"/>
            <a:ext cx="278892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91840" y="1645920"/>
            <a:ext cx="347472" cy="65836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291840" y="164592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30752" y="1645920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des paramètres vidéo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91840" y="2432304"/>
            <a:ext cx="278892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291840" y="2432304"/>
            <a:ext cx="347472" cy="65836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291840" y="2432304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730752" y="2432304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multi-visages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291840" y="3218688"/>
            <a:ext cx="278892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291840" y="3218688"/>
            <a:ext cx="347472" cy="65836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291840" y="3218688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730752" y="3218688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MTCNN / RetinaFace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91840" y="4005072"/>
            <a:ext cx="278892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3291840" y="4005072"/>
            <a:ext cx="347472" cy="65836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3291840" y="4005072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730752" y="400507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(VGG, ResNet)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17920" y="1005840"/>
            <a:ext cx="2788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217920" y="10058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217920" y="1645920"/>
            <a:ext cx="278892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6217920" y="1645920"/>
            <a:ext cx="347472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217920" y="164592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656832" y="1645920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Actor-Critic (A3C, PPO)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217920" y="2432304"/>
            <a:ext cx="278892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6217920" y="2432304"/>
            <a:ext cx="347472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6217920" y="2432304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656832" y="2432304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Meta-Learning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217920" y="3218688"/>
            <a:ext cx="278892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6217920" y="3218688"/>
            <a:ext cx="347472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6217920" y="3218688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656832" y="3218688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6217920" y="4005072"/>
            <a:ext cx="278892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6217920" y="4005072"/>
            <a:ext cx="347472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6217920" y="4005072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656832" y="400507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 &amp; Cloud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4AAE3-9AD5-35EC-49B0-0F9753B1F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879586-F3AE-AFA7-8A82-42B1E31AFD82}"/>
              </a:ext>
            </a:extLst>
          </p:cNvPr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3342FE8-D00B-2BC2-8A4E-DC0618CB97D5}"/>
              </a:ext>
            </a:extLst>
          </p:cNvPr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</a:t>
            </a: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IMB BOB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E6692FA-63F4-56CF-777E-B67160A4FD6C}"/>
              </a:ext>
            </a:extLst>
          </p:cNvPr>
          <p:cNvSpPr/>
          <p:nvPr/>
        </p:nvSpPr>
        <p:spPr>
          <a:xfrm>
            <a:off x="338328" y="1014984"/>
            <a:ext cx="2816352" cy="554736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333BE64-0FF0-4608-D087-187E5AD05A84}"/>
              </a:ext>
            </a:extLst>
          </p:cNvPr>
          <p:cNvSpPr/>
          <p:nvPr/>
        </p:nvSpPr>
        <p:spPr>
          <a:xfrm>
            <a:off x="365760" y="10058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fort</a:t>
            </a:r>
            <a:endParaRPr lang="en-US"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8F2CECF-FBEA-AAEB-1AA2-73296600615D}"/>
              </a:ext>
            </a:extLst>
          </p:cNvPr>
          <p:cNvSpPr/>
          <p:nvPr/>
        </p:nvSpPr>
        <p:spPr>
          <a:xfrm>
            <a:off x="358140" y="1674876"/>
            <a:ext cx="355092" cy="697992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8359A0C-592E-385B-AE6E-F3B151B1A2A7}"/>
              </a:ext>
            </a:extLst>
          </p:cNvPr>
          <p:cNvSpPr/>
          <p:nvPr/>
        </p:nvSpPr>
        <p:spPr>
          <a:xfrm>
            <a:off x="338328" y="1677924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CCD5C29-392A-0054-7EAA-2C5680506B56}"/>
              </a:ext>
            </a:extLst>
          </p:cNvPr>
          <p:cNvSpPr/>
          <p:nvPr/>
        </p:nvSpPr>
        <p:spPr>
          <a:xfrm>
            <a:off x="2725675" y="565404"/>
            <a:ext cx="2267712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C27AA30-1F5E-FA32-4B2B-2166F23D90AC}"/>
              </a:ext>
            </a:extLst>
          </p:cNvPr>
          <p:cNvSpPr/>
          <p:nvPr/>
        </p:nvSpPr>
        <p:spPr>
          <a:xfrm>
            <a:off x="365760" y="2432304"/>
            <a:ext cx="278892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90707CF-8A16-B426-572C-62CF8DA1FE65}"/>
              </a:ext>
            </a:extLst>
          </p:cNvPr>
          <p:cNvSpPr/>
          <p:nvPr/>
        </p:nvSpPr>
        <p:spPr>
          <a:xfrm>
            <a:off x="365760" y="2432304"/>
            <a:ext cx="347472" cy="658368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9D2026A-2BFC-41EA-95B4-903C4D4E8F9A}"/>
              </a:ext>
            </a:extLst>
          </p:cNvPr>
          <p:cNvSpPr/>
          <p:nvPr/>
        </p:nvSpPr>
        <p:spPr>
          <a:xfrm>
            <a:off x="365760" y="2432304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8BF4B06-F38B-DE6C-DD49-4B8C8A94EAE1}"/>
              </a:ext>
            </a:extLst>
          </p:cNvPr>
          <p:cNvSpPr/>
          <p:nvPr/>
        </p:nvSpPr>
        <p:spPr>
          <a:xfrm>
            <a:off x="804672" y="2432304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200" dirty="0"/>
              <a:t>Forte capacité à comprendre le contexte global du projet.</a:t>
            </a:r>
            <a:endParaRPr lang="en-US" sz="11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00DD323-CCA4-C6FB-C87A-0EDE25A211BE}"/>
              </a:ext>
            </a:extLst>
          </p:cNvPr>
          <p:cNvSpPr/>
          <p:nvPr/>
        </p:nvSpPr>
        <p:spPr>
          <a:xfrm>
            <a:off x="365760" y="3218688"/>
            <a:ext cx="278892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31EAE76-644F-338F-C8C5-8D13B55B0504}"/>
              </a:ext>
            </a:extLst>
          </p:cNvPr>
          <p:cNvSpPr/>
          <p:nvPr/>
        </p:nvSpPr>
        <p:spPr>
          <a:xfrm>
            <a:off x="365760" y="3218688"/>
            <a:ext cx="347472" cy="658368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8876128-1B77-A8E2-725C-77D7715F145F}"/>
              </a:ext>
            </a:extLst>
          </p:cNvPr>
          <p:cNvSpPr/>
          <p:nvPr/>
        </p:nvSpPr>
        <p:spPr>
          <a:xfrm>
            <a:off x="365760" y="3218688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494C4BE-DB65-DD2A-0082-F9BB7F85D1BB}"/>
              </a:ext>
            </a:extLst>
          </p:cNvPr>
          <p:cNvSpPr/>
          <p:nvPr/>
        </p:nvSpPr>
        <p:spPr>
          <a:xfrm>
            <a:off x="804672" y="3218688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68AA64B-6E9A-9099-A7F5-BF5AB74D7A29}"/>
              </a:ext>
            </a:extLst>
          </p:cNvPr>
          <p:cNvSpPr/>
          <p:nvPr/>
        </p:nvSpPr>
        <p:spPr>
          <a:xfrm>
            <a:off x="365760" y="4005072"/>
            <a:ext cx="2788920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56DE635-757C-95E2-8FEF-69DE46BB59EE}"/>
              </a:ext>
            </a:extLst>
          </p:cNvPr>
          <p:cNvSpPr/>
          <p:nvPr/>
        </p:nvSpPr>
        <p:spPr>
          <a:xfrm>
            <a:off x="365760" y="4005072"/>
            <a:ext cx="347472" cy="658368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4EDD787-3681-3F35-24DE-8664BE9CE664}"/>
              </a:ext>
            </a:extLst>
          </p:cNvPr>
          <p:cNvSpPr/>
          <p:nvPr/>
        </p:nvSpPr>
        <p:spPr>
          <a:xfrm>
            <a:off x="365760" y="4005072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A73A1FB-BBAC-9B86-8ED1-20C1EA7C7697}"/>
              </a:ext>
            </a:extLst>
          </p:cNvPr>
          <p:cNvSpPr/>
          <p:nvPr/>
        </p:nvSpPr>
        <p:spPr>
          <a:xfrm>
            <a:off x="804672" y="400507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C1E0D76-4EBC-D7AB-96B9-9B1207C9E4A2}"/>
              </a:ext>
            </a:extLst>
          </p:cNvPr>
          <p:cNvSpPr/>
          <p:nvPr/>
        </p:nvSpPr>
        <p:spPr>
          <a:xfrm>
            <a:off x="5073396" y="1014984"/>
            <a:ext cx="3613404" cy="542544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F686231-2F25-6BCA-EADA-BEABA48DFCDC}"/>
              </a:ext>
            </a:extLst>
          </p:cNvPr>
          <p:cNvSpPr/>
          <p:nvPr/>
        </p:nvSpPr>
        <p:spPr>
          <a:xfrm>
            <a:off x="5284470" y="1007364"/>
            <a:ext cx="2998470" cy="558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4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12F58D3-D1F5-24E6-DE4E-A3AB35453109}"/>
              </a:ext>
            </a:extLst>
          </p:cNvPr>
          <p:cNvSpPr/>
          <p:nvPr/>
        </p:nvSpPr>
        <p:spPr>
          <a:xfrm>
            <a:off x="5401056" y="1645920"/>
            <a:ext cx="3285744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F7A9EAD-82E5-38BB-694A-645282275A8C}"/>
              </a:ext>
            </a:extLst>
          </p:cNvPr>
          <p:cNvSpPr/>
          <p:nvPr/>
        </p:nvSpPr>
        <p:spPr>
          <a:xfrm>
            <a:off x="5079492" y="1635252"/>
            <a:ext cx="347472" cy="65836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2F09864-5AA6-FD16-36AB-DF6014C90826}"/>
              </a:ext>
            </a:extLst>
          </p:cNvPr>
          <p:cNvSpPr/>
          <p:nvPr/>
        </p:nvSpPr>
        <p:spPr>
          <a:xfrm>
            <a:off x="5087112" y="1610868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CD82E8D-5DF8-EEF0-EE68-5C11F7096E2D}"/>
              </a:ext>
            </a:extLst>
          </p:cNvPr>
          <p:cNvSpPr/>
          <p:nvPr/>
        </p:nvSpPr>
        <p:spPr>
          <a:xfrm>
            <a:off x="5579364" y="1700784"/>
            <a:ext cx="270357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200" dirty="0"/>
              <a:t>Lorsqu'il tente de corriger ces difficultés, il peut modifier ou supprimer des parties du code précédemment fonctionnelles.</a:t>
            </a:r>
            <a:endParaRPr lang="en-US" sz="11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BDD05443-D58E-FD34-BAA2-9D7ED17B29DF}"/>
              </a:ext>
            </a:extLst>
          </p:cNvPr>
          <p:cNvSpPr/>
          <p:nvPr/>
        </p:nvSpPr>
        <p:spPr>
          <a:xfrm>
            <a:off x="5087112" y="2414016"/>
            <a:ext cx="3599688" cy="720852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2AAD9E3-F59B-D875-6966-35BDD5E1DCF1}"/>
              </a:ext>
            </a:extLst>
          </p:cNvPr>
          <p:cNvSpPr/>
          <p:nvPr/>
        </p:nvSpPr>
        <p:spPr>
          <a:xfrm>
            <a:off x="5077968" y="2410206"/>
            <a:ext cx="393954" cy="702564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F0D1411-3654-8523-8D2A-B5054B41809C}"/>
              </a:ext>
            </a:extLst>
          </p:cNvPr>
          <p:cNvSpPr/>
          <p:nvPr/>
        </p:nvSpPr>
        <p:spPr>
          <a:xfrm>
            <a:off x="5109210" y="2463546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1C49E3B-8FC9-A52A-6851-31814306FC53}"/>
              </a:ext>
            </a:extLst>
          </p:cNvPr>
          <p:cNvSpPr/>
          <p:nvPr/>
        </p:nvSpPr>
        <p:spPr>
          <a:xfrm>
            <a:off x="5753100" y="2463546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EB32A4E-7E93-967C-24E2-CA81EE56CF25}"/>
              </a:ext>
            </a:extLst>
          </p:cNvPr>
          <p:cNvSpPr/>
          <p:nvPr/>
        </p:nvSpPr>
        <p:spPr>
          <a:xfrm>
            <a:off x="5077968" y="3346704"/>
            <a:ext cx="3608832" cy="781812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8805D0D5-CB8A-99B2-B612-58701766F271}"/>
              </a:ext>
            </a:extLst>
          </p:cNvPr>
          <p:cNvSpPr/>
          <p:nvPr/>
        </p:nvSpPr>
        <p:spPr>
          <a:xfrm>
            <a:off x="5079492" y="3355848"/>
            <a:ext cx="377190" cy="77266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59E3635-D30A-7773-69BD-270EFE44AA35}"/>
              </a:ext>
            </a:extLst>
          </p:cNvPr>
          <p:cNvSpPr/>
          <p:nvPr/>
        </p:nvSpPr>
        <p:spPr>
          <a:xfrm>
            <a:off x="5073396" y="3408426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877BFDAD-9BA3-C2B0-3E71-4B92DA87D675}"/>
              </a:ext>
            </a:extLst>
          </p:cNvPr>
          <p:cNvSpPr/>
          <p:nvPr/>
        </p:nvSpPr>
        <p:spPr>
          <a:xfrm>
            <a:off x="6382512" y="335737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0CEB0AFB-2867-4FE2-57E2-AE4DC2066AAB}"/>
              </a:ext>
            </a:extLst>
          </p:cNvPr>
          <p:cNvSpPr/>
          <p:nvPr/>
        </p:nvSpPr>
        <p:spPr>
          <a:xfrm>
            <a:off x="5077968" y="4216908"/>
            <a:ext cx="3580638" cy="658368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674B266A-EFC4-2DB3-A85B-BA9FFDB7D392}"/>
              </a:ext>
            </a:extLst>
          </p:cNvPr>
          <p:cNvSpPr/>
          <p:nvPr/>
        </p:nvSpPr>
        <p:spPr>
          <a:xfrm>
            <a:off x="5079492" y="4216908"/>
            <a:ext cx="347472" cy="65836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1CF115EC-28C8-3D8C-0F14-F2FCD97EEB3B}"/>
              </a:ext>
            </a:extLst>
          </p:cNvPr>
          <p:cNvSpPr/>
          <p:nvPr/>
        </p:nvSpPr>
        <p:spPr>
          <a:xfrm>
            <a:off x="5087112" y="4200144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0149359B-C09B-CE38-E8FA-F9E74AF1BDFB}"/>
              </a:ext>
            </a:extLst>
          </p:cNvPr>
          <p:cNvSpPr/>
          <p:nvPr/>
        </p:nvSpPr>
        <p:spPr>
          <a:xfrm>
            <a:off x="6158484" y="4232148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C0E68BB3-5824-F3B9-E6EE-5C38C75346B5}"/>
              </a:ext>
            </a:extLst>
          </p:cNvPr>
          <p:cNvSpPr/>
          <p:nvPr/>
        </p:nvSpPr>
        <p:spPr>
          <a:xfrm>
            <a:off x="7438644" y="210312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58" name="Shape 8">
            <a:extLst>
              <a:ext uri="{FF2B5EF4-FFF2-40B4-BE49-F238E27FC236}">
                <a16:creationId xmlns:a16="http://schemas.microsoft.com/office/drawing/2014/main" id="{DB4FF3C5-152E-4FBB-5134-F2EA965B5060}"/>
              </a:ext>
            </a:extLst>
          </p:cNvPr>
          <p:cNvSpPr/>
          <p:nvPr/>
        </p:nvSpPr>
        <p:spPr>
          <a:xfrm>
            <a:off x="713232" y="1671066"/>
            <a:ext cx="2441448" cy="701802"/>
          </a:xfrm>
          <a:prstGeom prst="rect">
            <a:avLst/>
          </a:prstGeom>
          <a:solidFill>
            <a:srgbClr val="F4F7FC"/>
          </a:solidFill>
          <a:ln w="12700">
            <a:solidFill>
              <a:srgbClr val="D6DF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CC5AE223-6454-A777-C35B-304079FDC293}"/>
              </a:ext>
            </a:extLst>
          </p:cNvPr>
          <p:cNvSpPr txBox="1"/>
          <p:nvPr/>
        </p:nvSpPr>
        <p:spPr>
          <a:xfrm>
            <a:off x="804672" y="1844040"/>
            <a:ext cx="2221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Génération rapide et efficace de code de bonne qualité.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19919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1097280"/>
            <a:ext cx="4160520" cy="1143000"/>
          </a:xfrm>
          <a:prstGeom prst="rect">
            <a:avLst/>
          </a:prstGeom>
          <a:solidFill>
            <a:srgbClr val="253A5E"/>
          </a:solidFill>
          <a:ln w="12700">
            <a:solidFill>
              <a:srgbClr val="3A50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1188720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Hybride Innovante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164592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Combinaison CNN + DQN pour reconnaissance et optimisation en temps réel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097280"/>
            <a:ext cx="4160520" cy="1143000"/>
          </a:xfrm>
          <a:prstGeom prst="rect">
            <a:avLst/>
          </a:prstGeom>
          <a:solidFill>
            <a:srgbClr val="253A5E"/>
          </a:solidFill>
          <a:ln w="12700">
            <a:solidFill>
              <a:srgbClr val="3A50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800600" y="1097280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69280" y="1188720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+19.8% de Confiance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0" y="164592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DQN améliore significativement les performances de classification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423160"/>
            <a:ext cx="4160520" cy="1143000"/>
          </a:xfrm>
          <a:prstGeom prst="rect">
            <a:avLst/>
          </a:prstGeom>
          <a:solidFill>
            <a:srgbClr val="253A5E"/>
          </a:solidFill>
          <a:ln w="12700">
            <a:solidFill>
              <a:srgbClr val="3A50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11480" y="2423160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2514600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Temps Réel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97180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18-22 FPS maintenus sur flux webcam avec interface Streamlit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423160"/>
            <a:ext cx="4160520" cy="1143000"/>
          </a:xfrm>
          <a:prstGeom prst="rect">
            <a:avLst/>
          </a:prstGeom>
          <a:solidFill>
            <a:srgbClr val="253A5E"/>
          </a:solidFill>
          <a:ln w="12700">
            <a:solidFill>
              <a:srgbClr val="3A50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00600" y="2423160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69280" y="2514600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Solide pour la Recherche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0" y="297180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open-source, documentation exhaustive, extensions futures planifiées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931920"/>
            <a:ext cx="8321040" cy="36576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11480" y="404164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L'intelligence artificielle n'est pas seulement dans la reconnaissance, mais aussi dans l'adaptation. »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914400"/>
            <a:ext cx="4572000" cy="3291840"/>
          </a:xfrm>
          <a:prstGeom prst="rect">
            <a:avLst/>
          </a:prstGeom>
          <a:solidFill>
            <a:srgbClr val="2E6BE6">
              <a:alpha val="12000"/>
            </a:srgbClr>
          </a:solidFill>
          <a:ln w="12700">
            <a:solidFill>
              <a:srgbClr val="2E6BE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AA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Mouhamed DIOP   |   Abibatou WANDAOGO   |   Samba DIALLO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github.com/mouhamed-diop8/PROJECT-IA-APPRENTISSAGE-PAR-RENFORCEMENT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840</Words>
  <Application>Microsoft Office PowerPoint</Application>
  <PresentationFormat>Affichage à l'écran (16:9)</PresentationFormat>
  <Paragraphs>263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Emotion-IA — Reconnaissance Faciale d'Émotions</dc:title>
  <dc:subject>PptxGenJS Presentation</dc:subject>
  <dc:creator>PptxGenJS</dc:creator>
  <cp:lastModifiedBy>Abibatou WANDAOGO</cp:lastModifiedBy>
  <cp:revision>2</cp:revision>
  <dcterms:created xsi:type="dcterms:W3CDTF">2026-06-02T11:41:23Z</dcterms:created>
  <dcterms:modified xsi:type="dcterms:W3CDTF">2026-06-02T13:26:59Z</dcterms:modified>
</cp:coreProperties>
</file>