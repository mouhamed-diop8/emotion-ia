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Distribution des classes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Happy</c:v>
                  </c:pt>
                  <c:pt idx="1">
                    <c:v>Neutral</c:v>
                  </c:pt>
                  <c:pt idx="2">
                    <c:v>Surprise</c:v>
                  </c:pt>
                  <c:pt idx="3">
                    <c:v>Sad</c:v>
                  </c:pt>
                  <c:pt idx="4">
                    <c:v>Angry</c:v>
                  </c:pt>
                  <c:pt idx="5">
                    <c:v>Fear</c:v>
                  </c:pt>
                  <c:pt idx="6">
                    <c:v>Disgust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8989</c:v>
                </c:pt>
                <c:pt idx="1">
                  <c:v>6198</c:v>
                </c:pt>
                <c:pt idx="2">
                  <c:v>4002</c:v>
                </c:pt>
                <c:pt idx="3">
                  <c:v>6077</c:v>
                </c:pt>
                <c:pt idx="4">
                  <c:v>4953</c:v>
                </c:pt>
                <c:pt idx="5">
                  <c:v>5121</c:v>
                </c:pt>
                <c:pt idx="6">
                  <c:v>547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93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Accuracy par émotion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par classe (%)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Happy</c:v>
                  </c:pt>
                  <c:pt idx="1">
                    <c:v>Surprise</c:v>
                  </c:pt>
                  <c:pt idx="2">
                    <c:v>Neutral</c:v>
                  </c:pt>
                  <c:pt idx="3">
                    <c:v>Sad</c:v>
                  </c:pt>
                  <c:pt idx="4">
                    <c:v>Angry</c:v>
                  </c:pt>
                  <c:pt idx="5">
                    <c:v>Fear</c:v>
                  </c:pt>
                  <c:pt idx="6">
                    <c:v>Disgust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91.2</c:v>
                </c:pt>
                <c:pt idx="1">
                  <c:v>85.8</c:v>
                </c:pt>
                <c:pt idx="2">
                  <c:v>79.5</c:v>
                </c:pt>
                <c:pt idx="3">
                  <c:v>65.3</c:v>
                </c:pt>
                <c:pt idx="4">
                  <c:v>58.4</c:v>
                </c:pt>
                <c:pt idx="5">
                  <c:v>52.1</c:v>
                </c:pt>
                <c:pt idx="6">
                  <c:v>50.7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93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Robustesse selon conditions d'éclairage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Amélioration DQN (%)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Éclairage
faible</c:v>
                  </c:pt>
                  <c:pt idx="1">
                    <c:v>Contre-jour</c:v>
                  </c:pt>
                  <c:pt idx="2">
                    <c:v>Éclairage
normal</c:v>
                  </c:pt>
                  <c:pt idx="3">
                    <c:v>Éclairage
fort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18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9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Emotion-IA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d'Émotions en Temps Réel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Optimisation Adaptative via Reinforcement Learning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200400" cy="45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3566160"/>
            <a:ext cx="1920240" cy="384048"/>
          </a:xfrm>
          <a:prstGeom prst="roundRect">
            <a:avLst>
              <a:gd name="adj" fmla="val 14286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Mouhamed DIOP  |  Abibatou WANDAOGO  |  Samba DIALLO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Avril 2026 — Projet Deep Learning &amp; APR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124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détecter les émotions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05156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1430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23560" y="11247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554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CNN + DQN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774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3591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FER-2013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35 887 images, 7 émotions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28600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37744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23591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788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et comparaisons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611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35935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forts, limites, usages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520440"/>
            <a:ext cx="4114800" cy="10515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11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23560" y="359359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Conclusion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40233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8404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5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058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64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émotionnel humain : enjeu clé des interfaces numériques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359152"/>
            <a:ext cx="64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3317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: sécurité, santé, marketing, éducation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3026664"/>
            <a:ext cx="64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9992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homme-machine de plus en plus sophistiquée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694176"/>
            <a:ext cx="64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66674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systèmes robustes et adaptatifs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16293D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058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8640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846320" y="1719072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0" y="166420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d'éclairage (faible luminosité, contre-jour)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846320" y="2386584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0" y="23317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d'image variable (résolution, bruit)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3054096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20640" y="29992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de capture non contrôlées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46320" y="3721608"/>
            <a:ext cx="182880" cy="1828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20640" y="366674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Diversité des caractéristiques faciales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Proposée : Architecture Hybride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20040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097280"/>
            <a:ext cx="731520" cy="7315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des visages dans le flux vidéo en temps réel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35808" y="2578608"/>
            <a:ext cx="256032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3200400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0972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7 émotions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convolutif entraîné sur FER-2013 (65.8% accuracy)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70448" y="2578608"/>
            <a:ext cx="256032" cy="6400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005840"/>
            <a:ext cx="2560320" cy="320040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1097280"/>
            <a:ext cx="731520" cy="73152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2487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DQN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926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adaptatif du contraste et de l'exposition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4389120"/>
            <a:ext cx="6949440" cy="502920"/>
          </a:xfrm>
          <a:prstGeom prst="roundRect">
            <a:avLst>
              <a:gd name="adj" fmla="val 10909"/>
            </a:avLst>
          </a:prstGeom>
          <a:solidFill>
            <a:srgbClr val="00305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389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Amélioration de +19.8% de confiance grâce à l'optimisation DQN  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FER-2013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1097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35 887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totales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914400"/>
            <a:ext cx="1920240" cy="1097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7168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87168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(niveaux de gris)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914400"/>
            <a:ext cx="1920240" cy="1097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08576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d'émotions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9984" y="914400"/>
            <a:ext cx="1920240" cy="1097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29984" y="15361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65760" y="2194560"/>
          <a:ext cx="54864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6126480" y="2194560"/>
            <a:ext cx="2651760" cy="2651760"/>
          </a:xfrm>
          <a:prstGeom prst="rect">
            <a:avLst/>
          </a:prstGeom>
          <a:solidFill>
            <a:srgbClr val="16293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63640" y="2788920"/>
            <a:ext cx="155448" cy="1554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743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sur-représentée (25%)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3264408"/>
            <a:ext cx="155448" cy="1554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3218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 très rare (2%) → retirée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63640" y="3739896"/>
            <a:ext cx="155448" cy="1554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369417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déséquilibré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63640" y="4215384"/>
            <a:ext cx="155448" cy="15544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416966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 données nécessaire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Classifieur CNN —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005840" cy="173736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10058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48×48×1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810512"/>
            <a:ext cx="18288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051560"/>
            <a:ext cx="123444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Conv(32)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810512"/>
            <a:ext cx="18288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051560"/>
            <a:ext cx="1234440" cy="1737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Conv(64)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810512"/>
            <a:ext cx="18288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051560"/>
            <a:ext cx="1234440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051560"/>
            <a:ext cx="12344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Conv(128)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BN+ReLU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810512"/>
            <a:ext cx="18288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051560"/>
            <a:ext cx="1005840" cy="17373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1051560"/>
            <a:ext cx="10058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1810512"/>
            <a:ext cx="182880" cy="6400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051560"/>
            <a:ext cx="1005840" cy="1737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051560"/>
            <a:ext cx="1005840" cy="1737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d'Optimisation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65760" y="3401568"/>
            <a:ext cx="4114800" cy="5943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472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447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±15°, translation ±10%, zoom ±10%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401568"/>
            <a:ext cx="4114800" cy="5943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4472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4472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activations à chaque bloc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4114800" cy="5943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après conv, 0.5 après dense — prévient l'overfitting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4114800"/>
            <a:ext cx="4114800" cy="594360"/>
          </a:xfrm>
          <a:prstGeom prst="rect">
            <a:avLst/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de 10 époques + LR Reduction ×0.5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DQN — Optimisation Adaptative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RL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270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(3D):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527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contraste, exposition, confiance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025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(9):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0025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3×3 : ajuster contraste/expo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478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4780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Δconfiance × 10 − pénalité hors bornes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535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(discount):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29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→ 0.01 (decay: 0.995)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90448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39044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expériences — Batch: 32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DQN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846320" y="1527048"/>
            <a:ext cx="3749040" cy="43891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5270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: 3 neurones (état)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21408"/>
            <a:ext cx="37490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214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1 : 64 + Dropout(0.2) + ReLU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715768"/>
            <a:ext cx="3749040" cy="43891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1576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2 : 64 + Dropout(0.2) + ReLU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310128"/>
            <a:ext cx="37490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3101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3 : 32 + ReLU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904488"/>
            <a:ext cx="3749040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90448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: 9 Q-values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572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: 6 793 paramètres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Classifieur CNN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005840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60120"/>
            <a:ext cx="2560320" cy="100584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200400" y="1581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Train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960120"/>
            <a:ext cx="2560320" cy="1005840"/>
          </a:xfrm>
          <a:prstGeom prst="rect">
            <a:avLst/>
          </a:prstGeom>
          <a:solidFill>
            <a:srgbClr val="16293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35040" y="1581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65760" y="2148840"/>
          <a:ext cx="54864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126480" y="2148840"/>
            <a:ext cx="2651760" cy="26974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63640" y="2697480"/>
            <a:ext cx="64008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0" y="2679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: 91.2%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3118104"/>
            <a:ext cx="64008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0" y="30998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: 85.8%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63640" y="3538728"/>
            <a:ext cx="64008" cy="2560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5204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: 79.5%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3959352"/>
            <a:ext cx="64008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394106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 : 50.7% (rare)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63640" y="4379976"/>
            <a:ext cx="64008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4361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620 935 paramètres entraînables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— Agent DQN &amp; Temps Réel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486400" cy="237744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9144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DQN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Avec DQN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 moyenne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succès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Temps/image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 (webcam)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réel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65760" y="3474720"/>
          <a:ext cx="53949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263640" y="960120"/>
            <a:ext cx="2468880" cy="621792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63640" y="978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26364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confiance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263640" y="1709928"/>
            <a:ext cx="2468880" cy="621792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63640" y="17282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263640" y="2075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succès DQN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63640" y="2459736"/>
            <a:ext cx="2468880" cy="621792"/>
          </a:xfrm>
          <a:prstGeom prst="rect">
            <a:avLst/>
          </a:prstGeom>
          <a:solidFill>
            <a:srgbClr val="16293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63640" y="24780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2825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Épisodes convergence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63640" y="3209544"/>
            <a:ext cx="2468880" cy="621792"/>
          </a:xfrm>
          <a:prstGeom prst="rect">
            <a:avLst/>
          </a:prstGeom>
          <a:solidFill>
            <a:srgbClr val="16293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63640" y="3227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263640" y="357530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temps réel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86968"/>
            <a:ext cx="2834640" cy="393192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84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978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" y="1536192"/>
            <a:ext cx="137160" cy="1371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90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 de confiance via DQN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2039112"/>
            <a:ext cx="137160" cy="1371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93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aux conditions variables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542032"/>
            <a:ext cx="137160" cy="1371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4963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FPS maintenus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044952"/>
            <a:ext cx="137160" cy="1371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99923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temps réel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3547872"/>
            <a:ext cx="137160" cy="13716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5021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open-source documenté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91840" y="886968"/>
            <a:ext cx="2834640" cy="3931920"/>
          </a:xfrm>
          <a:prstGeom prst="rect">
            <a:avLst/>
          </a:prstGeom>
          <a:solidFill>
            <a:srgbClr val="16293D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78408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31920" y="9784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429000" y="1536192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0" y="149047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temps de traitement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29000" y="2084832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0" y="203911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'Disgust' sous-représentée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29000" y="2633472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57600" y="25877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mono-visage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429000" y="3182112"/>
            <a:ext cx="137160" cy="1371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0" y="313639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limités (contraste, expo)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309360" y="886968"/>
            <a:ext cx="2560320" cy="3931920"/>
          </a:xfrm>
          <a:prstGeom prst="rect">
            <a:avLst/>
          </a:prstGeom>
          <a:solidFill>
            <a:srgbClr val="16293D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978408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903720" y="978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6446520" y="1508760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656832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surveillance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446520" y="2029968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656832" y="198424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mentale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46520" y="2551176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56832" y="2505456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46520" y="3072384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56832" y="302666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446520" y="3593592"/>
            <a:ext cx="137160" cy="1371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56832" y="35478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Améliorations Futures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3383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572768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270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DQN (réduction biais)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231136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854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Dueling DQN (valeur/avantage)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" y="2889504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8437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Experience Replay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" y="3547872"/>
            <a:ext cx="164592" cy="16459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&amp; Pruning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6060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417320"/>
            <a:ext cx="2606040" cy="3383280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64992" y="15727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5270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paramètres vidéo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4992" y="223113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1854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multi-visages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288950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8437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MTCNN / RetinaFace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64992" y="35478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188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(VGG, ResNet)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35040" y="960120"/>
            <a:ext cx="2606040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9601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417320"/>
            <a:ext cx="2606040" cy="3383280"/>
          </a:xfrm>
          <a:prstGeom prst="rect">
            <a:avLst/>
          </a:prstGeom>
          <a:solidFill>
            <a:srgbClr val="16293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1572768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152704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(A3C, PPO)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99632" y="2231136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218541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99632" y="2889504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84378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9632" y="3547872"/>
            <a:ext cx="164592" cy="16459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50215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&amp; Cloud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371600" y="4892040"/>
            <a:ext cx="6400800" cy="137160"/>
          </a:xfrm>
          <a:prstGeom prst="roundRect">
            <a:avLst>
              <a:gd name="adj" fmla="val 2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188720"/>
          </a:xfrm>
          <a:prstGeom prst="rect">
            <a:avLst/>
          </a:prstGeom>
          <a:solidFill>
            <a:srgbClr val="16293D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Hybride Innovante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536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CNN + DQN pour reconnaissance et optimisation temps réel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188720"/>
          </a:xfrm>
          <a:prstGeom prst="rect">
            <a:avLst/>
          </a:prstGeom>
          <a:solidFill>
            <a:srgbClr val="16293D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2356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+19.8% de Confiance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536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DQN améliore significativement les performances de classification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114800" cy="1188720"/>
          </a:xfrm>
          <a:prstGeom prst="rect">
            <a:avLst/>
          </a:prstGeom>
          <a:solidFill>
            <a:srgbClr val="16293D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Temps Réel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 FPS maintenus sur flux webcam avec interface Streamlit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423160"/>
            <a:ext cx="4114800" cy="1188720"/>
          </a:xfrm>
          <a:prstGeom prst="rect">
            <a:avLst/>
          </a:prstGeom>
          <a:solidFill>
            <a:srgbClr val="16293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Solide pour la Recherche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29535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open-source, documentation exhaustive, extensions futures planifiées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solidFill>
            <a:srgbClr val="00305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977640"/>
            <a:ext cx="768096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"L'intelligence artificielle n'est pas seulement dans la reconnaissance,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aussi dans l'adaptation."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5500" dirty="0"/>
          </a:p>
        </p:txBody>
      </p:sp>
      <p:sp>
        <p:nvSpPr>
          <p:cNvPr id="6" name="Shape 4"/>
          <p:cNvSpPr/>
          <p:nvPr/>
        </p:nvSpPr>
        <p:spPr>
          <a:xfrm>
            <a:off x="731520" y="3337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Mouhamed DIOP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337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Abibatou WANDAOGO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337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16293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DIALLO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: github.com/mouhamed-diop8/PROJECT-IA-APPRENTISSAGE-PAR-RENFORCEMENT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Emotion-IA</dc:title>
  <dc:subject>PptxGenJS Presentation</dc:subject>
  <dc:creator>PptxGenJS</dc:creator>
  <cp:lastModifiedBy>PptxGenJS</cp:lastModifiedBy>
  <cp:revision>1</cp:revision>
  <dcterms:created xsi:type="dcterms:W3CDTF">2026-05-31T19:06:05Z</dcterms:created>
  <dcterms:modified xsi:type="dcterms:W3CDTF">2026-05-31T19:06:05Z</dcterms:modified>
</cp:coreProperties>
</file>